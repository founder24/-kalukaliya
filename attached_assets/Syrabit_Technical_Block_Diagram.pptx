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D0E8"/>
                </a:solidFill>
                <a:latin typeface="Calibri"/>
              </a:rPr>
              <a:t>BILINGUAL AI EDUCATIONAL PLATFORM  ·  SYSTEM ARCHITECTURE BLOCK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303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F46E5"/>
                </a:solidFill>
                <a:latin typeface="Calibri"/>
              </a:rPr>
              <a:t>CONTENT HIERARCHY  (Library Module)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58368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651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67665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841247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SEBA · AHSEC · CBSE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" y="1115568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13385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29844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Grade 9 / 10 / 11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" y="1572768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0C2D35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59105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175564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Science · Arts · Commerce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" y="2029968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0A2018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204825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21284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Physics · Chem · Math · Bio…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2487168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201500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250545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CHAPTER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267004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Chapter 1 … Chapter 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" y="2944368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240A18"/>
          </a:solidFill>
          <a:ln w="1651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296265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" y="312724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Topic Units (Granular)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1024128"/>
            <a:ext cx="0" cy="9144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1481328"/>
            <a:ext cx="0" cy="9144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4400" y="1938528"/>
            <a:ext cx="0" cy="9144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2395728"/>
            <a:ext cx="0" cy="9144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" y="2852928"/>
            <a:ext cx="0" cy="9144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64592" y="3401568"/>
            <a:ext cx="1508760" cy="475488"/>
          </a:xfrm>
          <a:prstGeom prst="roundRect">
            <a:avLst>
              <a:gd name="adj" fmla="val 6000"/>
            </a:avLst>
          </a:prstGeom>
          <a:solidFill>
            <a:srgbClr val="120B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" y="34198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8B5CF6"/>
                </a:solidFill>
                <a:latin typeface="Calibri"/>
              </a:rPr>
              <a:t>CONTENT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" y="360273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Notes (EN/AS)  ·  Q&amp;A (EN/AS)
PYQ Papers  ·  Voice Output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91640" y="2286000"/>
            <a:ext cx="384048" cy="0"/>
          </a:xfrm>
          <a:prstGeom prst="line">
            <a:avLst/>
          </a:prstGeom>
          <a:ln w="2286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48840" y="530352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6B6D4"/>
                </a:solidFill>
                <a:latin typeface="Calibri"/>
              </a:rPr>
              <a:t>QUERY PROCESSING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INPUT
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Text / Voice
EN or AS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410711" y="1133856"/>
            <a:ext cx="64008" cy="0"/>
          </a:xfrm>
          <a:prstGeom prst="line">
            <a:avLst/>
          </a:prstGeom>
          <a:ln w="2032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4747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177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LANGUAGE
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Script analysis
+ LID model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82312" y="1133856"/>
            <a:ext cx="64008" cy="0"/>
          </a:xfrm>
          <a:prstGeom prst="line">
            <a:avLst/>
          </a:prstGeom>
          <a:ln w="2032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8463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0C2D35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QUERY
EMBEDDER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BGE-M3 1024-dim
multilingual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53912" y="1133856"/>
            <a:ext cx="64008" cy="0"/>
          </a:xfrm>
          <a:prstGeom prst="line">
            <a:avLst/>
          </a:prstGeom>
          <a:ln w="2032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2179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0A2018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TOPIC
MATCHER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Cosine similarity
197 embeddings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25511" y="1133856"/>
            <a:ext cx="64008" cy="0"/>
          </a:xfrm>
          <a:prstGeom prst="line">
            <a:avLst/>
          </a:prstGeom>
          <a:ln w="2032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5895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201500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RAG
RETRIEVAL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Top-K chunks
Vector DB lookup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97112" y="1133856"/>
            <a:ext cx="64008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9611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240A18"/>
          </a:solidFill>
          <a:ln w="1778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LLM
GENERATOR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Gemini / Indic
LLM (lang-aware)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268712" y="1133856"/>
            <a:ext cx="64008" cy="0"/>
          </a:xfrm>
          <a:prstGeom prst="line">
            <a:avLst/>
          </a:prstGeom>
          <a:ln w="2032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10332720" y="80467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1A0840"/>
          </a:solidFill>
          <a:ln w="177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2720" y="841248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RESPONSE
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113385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Streamed text
+ TTS voice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031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Input params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1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lang={en|as}
modality={text|voice}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747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Detection output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lang_code
confidence_score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463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Embedding 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3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vector[1024]
query_repr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Matcher output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topic_id
similarity_score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895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95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Retrieval params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top_k=5
chunks + metadata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11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611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Generator params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prompt+context
max_tokens=800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332720" y="1517904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1016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32720" y="1536192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6B7DB3"/>
                </a:solidFill>
                <a:latin typeface="Calibri"/>
              </a:rPr>
              <a:t>Output params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2720" y="17007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stream=SSE
voice={sarvam-tts}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03120" y="2103120"/>
            <a:ext cx="5029200" cy="548640"/>
          </a:xfrm>
          <a:prstGeom prst="roundRect">
            <a:avLst>
              <a:gd name="adj" fmla="val 6000"/>
            </a:avLst>
          </a:prstGeom>
          <a:solidFill>
            <a:srgbClr val="120B2A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03120" y="213055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B5CF6"/>
                </a:solidFill>
                <a:latin typeface="Calibri"/>
              </a:rPr>
              <a:t>PERSISTENT STUDENT MEMORY MODULE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03120" y="237743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Stores: topics_studied[], weak_areas[], doubt_history[], session_count  ·  Read on every query  ·  Written after every session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572000" y="1463040"/>
            <a:ext cx="0" cy="27432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7406640" y="2103120"/>
            <a:ext cx="4617720" cy="548640"/>
          </a:xfrm>
          <a:prstGeom prst="roundRect">
            <a:avLst>
              <a:gd name="adj" fmla="val 6000"/>
            </a:avLst>
          </a:prstGeom>
          <a:solidFill>
            <a:srgbClr val="051810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0" y="2130551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KNOWLEDGE BASE  (Vector Store + Document DB)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06640" y="2377439"/>
            <a:ext cx="4617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8D0E8"/>
                </a:solidFill>
                <a:latin typeface="Calibri"/>
              </a:rPr>
              <a:t>Indexed: chapter_notes, qa_pairs, pyq_text, formula_sheets  ·  Languages: EN + AS  ·  Embeddings: BGE-M3 (1024-dim)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961120" y="1463040"/>
            <a:ext cx="0" cy="27432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2103120" y="2907792"/>
            <a:ext cx="9921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59E0B"/>
                </a:solidFill>
                <a:latin typeface="Calibri"/>
              </a:rPr>
              <a:t>CONTENT INGESTION PIPELINE (Staff Module → Knowledge Base)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103120" y="31272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8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03120" y="315467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RAW CONTENT
INGEST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03120" y="3364991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PDF · Markdown
Manual entry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712463" y="3355848"/>
            <a:ext cx="100585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813048" y="31272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8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13048" y="315467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PARSER /
CHUNKER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13048" y="3364991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Section split
clean HTML→text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422392" y="3355848"/>
            <a:ext cx="1005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5522976" y="31272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8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522976" y="315467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BILINGUAL
TRANSLATOR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22976" y="3364991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EN→AS pipeline
Sarvam translate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132320" y="3355848"/>
            <a:ext cx="1005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7232904" y="31272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8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32904" y="315467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EMBED +
INDEX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32904" y="3364991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BGE-M3 encode
Vectorize write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8842248" y="3355848"/>
            <a:ext cx="1005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8942832" y="31272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8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42832" y="315467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PUBLISH
GATEKEEPER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42832" y="3364991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Staff QC review
version control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0552176" y="3355848"/>
            <a:ext cx="1005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10652760" y="31272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8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652760" y="315467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 IN
KNOWLEDGE BASE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652760" y="3364991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C8D0E8"/>
                </a:solidFill>
                <a:latin typeface="Calibri"/>
              </a:rPr>
              <a:t>Immediately
available in RAG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03120" y="3730752"/>
            <a:ext cx="9921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6B6D4"/>
                </a:solidFill>
                <a:latin typeface="Calibri"/>
              </a:rPr>
              <a:t>CURRICULUM RESOLVER  —  Topic → Chapter → Subject → Stream → Class → Board  (automatic back-mapping on each query)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1031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240A18"/>
          </a:solidFill>
          <a:ln w="1651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031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TOPIC ID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410711" y="4178807"/>
            <a:ext cx="64008" cy="0"/>
          </a:xfrm>
          <a:prstGeom prst="line">
            <a:avLst/>
          </a:prstGeom>
          <a:ln w="2032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34747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201500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4747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CHAPTER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782312" y="4178807"/>
            <a:ext cx="64008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48463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0A2018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8463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6153912" y="4178807"/>
            <a:ext cx="64008" cy="0"/>
          </a:xfrm>
          <a:prstGeom prst="line">
            <a:avLst/>
          </a:prstGeom>
          <a:ln w="2032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62179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0C2D35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179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525511" y="4178807"/>
            <a:ext cx="64008" cy="0"/>
          </a:xfrm>
          <a:prstGeom prst="line">
            <a:avLst/>
          </a:prstGeom>
          <a:ln w="2032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75895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895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897112" y="4178807"/>
            <a:ext cx="64008" cy="0"/>
          </a:xfrm>
          <a:prstGeom prst="line">
            <a:avLst/>
          </a:prstGeom>
          <a:ln w="2032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89611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1651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611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BOARD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0268712" y="4178807"/>
            <a:ext cx="64008" cy="0"/>
          </a:xfrm>
          <a:prstGeom prst="line">
            <a:avLst/>
          </a:prstGeom>
          <a:ln w="2032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10332720" y="3977639"/>
            <a:ext cx="1298448" cy="402336"/>
          </a:xfrm>
          <a:prstGeom prst="roundRect">
            <a:avLst>
              <a:gd name="adj" fmla="val 6000"/>
            </a:avLst>
          </a:prstGeom>
          <a:solidFill>
            <a:srgbClr val="1A0840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332720" y="40690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ANSWER
DELIVERED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64592" y="45171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B7DB3"/>
                </a:solidFill>
                <a:latin typeface="Calibri"/>
              </a:rPr>
              <a:t>TECHNOLOGY STACK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64592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64592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Edge Runtime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4592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Cloudflare Workers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655064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655064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Vector DB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55064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Vectorize (HNSW)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145536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145536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Embed Model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145536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BGE-M3  1024-dim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36008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636008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LLM  (EN)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36008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Gemini 2.5 Flash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26480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126480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LLM  (AS/IN)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26480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Sarvam 30B Indic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616952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616952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TTS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16952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Sarvam TTS  EN+AS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107424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107424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Document DB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107424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MongoDB Atlas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597896" y="4754880"/>
            <a:ext cx="1435608" cy="438912"/>
          </a:xfrm>
          <a:prstGeom prst="roundRect">
            <a:avLst>
              <a:gd name="adj" fmla="val 6000"/>
            </a:avLst>
          </a:prstGeom>
          <a:solidFill>
            <a:srgbClr val="0C111E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597896" y="477316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6B7DB3"/>
                </a:solidFill>
                <a:latin typeface="Calibri"/>
              </a:rPr>
              <a:t>Auth / API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97896" y="4956048"/>
            <a:ext cx="1435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8D0E8"/>
                </a:solidFill>
                <a:latin typeface="Calibri"/>
              </a:rPr>
              <a:t>FastAPI · JWT RS256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1E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B7DB3"/>
                </a:solidFill>
                <a:latin typeface="Calibri"/>
              </a:rPr>
              <a:t>Slide 1 of 2  ·  AI-Powered Bilingual Educational Platform  ·  System Architecture  ·  MSME IdeaHackathon 6.0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D0E8"/>
                </a:solidFill>
                <a:latin typeface="Calibri"/>
              </a:rPr>
              <a:t>BILINGUAL AI EDUCATIONAL PLATFORM  ·  TECHNICAL PROCESSING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6B6D4"/>
                </a:solidFill>
                <a:latin typeface="Calibri"/>
              </a:rPr>
              <a:t>PIPELINE STAGE SPECIFICATIONS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22960"/>
            <a:ext cx="1261872" cy="251825"/>
          </a:xfrm>
          <a:prstGeom prst="rect">
            <a:avLst/>
          </a:prstGeom>
          <a:solidFill>
            <a:srgbClr val="1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832104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06B6D4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39" y="822960"/>
            <a:ext cx="1417320" cy="251825"/>
          </a:xfrm>
          <a:prstGeom prst="rect">
            <a:avLst/>
          </a:prstGeom>
          <a:solidFill>
            <a:srgbClr val="1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832104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06B6D4"/>
                </a:solidFill>
                <a:latin typeface="Calibri"/>
              </a:rPr>
              <a:t>MODULE /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8648" y="822960"/>
            <a:ext cx="1280160" cy="251825"/>
          </a:xfrm>
          <a:prstGeom prst="rect">
            <a:avLst/>
          </a:prstGeom>
          <a:solidFill>
            <a:srgbClr val="1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832104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06B6D4"/>
                </a:solidFill>
                <a:latin typeface="Calibri"/>
              </a:rPr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822960"/>
            <a:ext cx="1280160" cy="251825"/>
          </a:xfrm>
          <a:prstGeom prst="rect">
            <a:avLst/>
          </a:prstGeom>
          <a:solidFill>
            <a:srgbClr val="1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832104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06B6D4"/>
                </a:solidFill>
                <a:latin typeface="Calibri"/>
              </a:rPr>
              <a:t>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95544" y="822960"/>
            <a:ext cx="1298448" cy="251825"/>
          </a:xfrm>
          <a:prstGeom prst="rect">
            <a:avLst/>
          </a:prstGeom>
          <a:solidFill>
            <a:srgbClr val="1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832104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06B6D4"/>
                </a:solidFill>
                <a:latin typeface="Calibri"/>
              </a:rPr>
              <a:t>KEY PARAMETERS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084112"/>
            <a:ext cx="1261872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" y="1093256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1. Input Reception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39" y="1084112"/>
            <a:ext cx="141732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9616" y="1093256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Web / Mobile API Gateway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1084112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5224" y="1093256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HTTP req · voice blob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1084112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1093256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Normalised query string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5544" y="1084112"/>
            <a:ext cx="1298448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1093256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lang_hint · session_id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345265"/>
            <a:ext cx="1261872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" y="1354409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2. Language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39" y="1345265"/>
            <a:ext cx="141732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9616" y="1354409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Statistical LID Classifier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1345265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35224" y="1354409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Raw query string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97096" y="1345265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3672" y="1354409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lang_code ∈ {en, as}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95544" y="1345265"/>
            <a:ext cx="1298448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1354409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conf_threshold = 0.85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1606417"/>
            <a:ext cx="1261872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" y="1615561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3. Query Embedding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39" y="1606417"/>
            <a:ext cx="141732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99616" y="1615561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BGE-M3  (1024-dim)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8648" y="1606417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35224" y="1615561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Query string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7096" y="1606417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33672" y="1615561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float[1024] vector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95544" y="1606417"/>
            <a:ext cx="1298448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1615561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model=bge-m3; pooling=cls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1867570"/>
            <a:ext cx="1261872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" y="1876714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4. Topic Matching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39" y="1867570"/>
            <a:ext cx="141732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9616" y="1876714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Cosine Similarity Engine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98648" y="1867570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35224" y="1876714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Query vector + topic DB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97096" y="1867570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33672" y="1876714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topic_id, score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95544" y="1867570"/>
            <a:ext cx="1298448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2120" y="1876714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n_topics=197; threshold=0.72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128723"/>
            <a:ext cx="1261872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" y="2137867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5. Scope Resolution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39" y="2128723"/>
            <a:ext cx="141732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99616" y="2137867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Curriculum Resolver Service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98648" y="2128723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35224" y="2137867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topic_id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97096" y="2128723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3672" y="2137867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chapter·subject·board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95544" y="2128723"/>
            <a:ext cx="1298448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32120" y="2137867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hierarchy depth=6 levels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2389875"/>
            <a:ext cx="1261872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456" y="2399019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6. RAG Retrieval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39" y="2389875"/>
            <a:ext cx="141732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99616" y="2399019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HNSW Vector Index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98648" y="2389875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35224" y="2399019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Query vector + filters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97096" y="2389875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33672" y="2399019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Top-K text chunks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95544" y="2389875"/>
            <a:ext cx="1298448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32120" y="2399019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k=5; ef_search=128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2651028"/>
            <a:ext cx="1261872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9456" y="2660172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7. Context Assembly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63039" y="2651028"/>
            <a:ext cx="141732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99616" y="2660172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Prompt Builder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98648" y="2651028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35224" y="2660172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chunks + memory + scope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97096" y="2651028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33672" y="2660172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Structured prompt string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95544" y="2651028"/>
            <a:ext cx="1298448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32120" y="2660172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max_ctx=12 000 tokens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2912181"/>
            <a:ext cx="1261872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9456" y="2921325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8. LLM Generation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63039" y="2912181"/>
            <a:ext cx="141732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99616" y="2921325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Gemini Flash / Sarvam 30B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98648" y="2912181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35224" y="2921325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Prompt string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97096" y="2912181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33672" y="2921325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Answer text stream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95544" y="2912181"/>
            <a:ext cx="1298448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32120" y="2921325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max_new_tokens=800; temp=0.3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3173333"/>
            <a:ext cx="1261872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9456" y="3182477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9. Response Delivery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63039" y="3173333"/>
            <a:ext cx="141732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499616" y="3182477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SSE Stream Handler + TTS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98648" y="3173333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35224" y="3182477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Answer text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97096" y="3173333"/>
            <a:ext cx="1280160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33672" y="3182477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JSON stream + audio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95544" y="3173333"/>
            <a:ext cx="1298448" cy="251825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32120" y="3182477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format=SSE; voice=indic-f1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3434486"/>
            <a:ext cx="1261872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19456" y="3443630"/>
            <a:ext cx="1207007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D0E8"/>
                </a:solidFill>
                <a:latin typeface="Calibri"/>
              </a:rPr>
              <a:t>10. Memory Write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63039" y="3434486"/>
            <a:ext cx="141732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499616" y="3443630"/>
            <a:ext cx="1362456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Student Profile Store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98648" y="3434486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935224" y="3443630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Session summary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197096" y="3434486"/>
            <a:ext cx="1280160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233672" y="3443630"/>
            <a:ext cx="1225295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Updated memory doc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95544" y="3434486"/>
            <a:ext cx="1298448" cy="251825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32120" y="3443630"/>
            <a:ext cx="1243584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TTL=∞; upsert=true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01968" y="548640"/>
            <a:ext cx="5440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4F46E5"/>
                </a:solidFill>
                <a:latin typeface="Calibri"/>
              </a:rPr>
              <a:t>TECHNICAL DIFFERENTIATORS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601968" y="822960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0E0C2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93407" y="85953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4F46E5"/>
                </a:solidFill>
                <a:latin typeface="Calibri"/>
              </a:rPr>
              <a:t>01 · Dual-Language RAG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93407" y="107899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C8D0E8"/>
                </a:solidFill>
                <a:latin typeface="Calibri"/>
              </a:rPr>
              <a:t>Single retrieval pipeline serves both English and Assamese queries from the same indexed corpus. Language-conditioned prompting switches the generation language without maintaining separate indices. Reduces storage by ~40 % vs. dual-index approach.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601968" y="1655064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05161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693407" y="16916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02 · Curriculum-Scoped Retrieval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93407" y="1911095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C8D0E8"/>
                </a:solidFill>
                <a:latin typeface="Calibri"/>
              </a:rPr>
              <a:t>Metadata filters (board_id, class_id, subject_id, chapter_id) applied at vector-search time, not post-hoc. Ensures retrieved chunks are syllabus-relevant, reducing hallucinations to near-zero on in-scope topics. Filter cardinality: 6-level hierarchy × 3 boards × 4 classes.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601968" y="2487168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10062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93407" y="252374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B5CF6"/>
                </a:solidFill>
                <a:latin typeface="Calibri"/>
              </a:rPr>
              <a:t>03 · Persistent Student Memory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93407" y="27432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C8D0E8"/>
                </a:solidFill>
                <a:latin typeface="Calibri"/>
              </a:rPr>
              <a:t>MongoDB document per student accumulates topics_studied, weak_areas, doubt_history. Injected into every prompt as a 'prior context' block (max 800 tokens). Enables multi-session personalisation unavailable in stateless LLM deployments.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601968" y="3319272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160E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693407" y="335584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04 · Human-in-the-Loop Content QC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93407" y="3575304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C8D0E8"/>
                </a:solidFill>
                <a:latin typeface="Calibri"/>
              </a:rPr>
              <a:t>Staff publish pipeline: raw_content → chunker → translator → embedder → QC review → live. No auto-published AI-generated curriculum content. Version-controlled with optimistic locking (version counter per chapter).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601968" y="4151376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04182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93407" y="418795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6B6D4"/>
                </a:solidFill>
                <a:latin typeface="Calibri"/>
              </a:rPr>
              <a:t>05 · Edge-First Architecture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693407" y="4407408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C8D0E8"/>
                </a:solidFill>
                <a:latin typeface="Calibri"/>
              </a:rPr>
              <a:t>Cloudflare Workers handle routing, JWT auth, CORS, rate-limiting, and embedding calls at the edge. P95 TTFB &lt; 400 ms for cached responses. Origin (Cloud Run) invoked only for LLM generation and DB writes.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2880" y="57241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59E0B"/>
                </a:solidFill>
                <a:latin typeface="Calibri"/>
              </a:rPr>
              <a:t>SYSTEM CONSTRAINTS &amp; PERFORMANCE TARGETS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82880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28600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Latency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8600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TTFB &lt; 400 ms (edge cache)
LLM stream start &lt; 2 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655064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700784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Throughput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00784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1 000 concurrent users
Edge: stateless horizontal scale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127248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172968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Accuracy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72968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RAG grounding: in-scope topics
hallucination rate &lt; 2 %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99432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645152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Language support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45152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English (en) + Assamese (as)
Extensible to 22 IN languages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071616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17336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Content coverage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17336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SEBA Cl.9–10 · AHSEC Cl.11–12
Core subjects + PYQ archive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543800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589520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Auth &amp; Security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89520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JWT RS256 · rate limiting
HTTPS-only · CORS enforced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15984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61704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Data privacy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61704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Student data stored regionally
No PII in LLM prompts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488168" y="596188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0A101C"/>
          </a:solidFill>
          <a:ln w="8890"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533888" y="5989320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Availability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533888" y="6199631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8D0E8"/>
                </a:solidFill>
                <a:latin typeface="Calibri"/>
              </a:rPr>
              <a:t>Cloud Run + Cloudflare CDN
Targeted 99.5 % monthly uptime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1E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B7DB3"/>
                </a:solidFill>
                <a:latin typeface="Calibri"/>
              </a:rPr>
              <a:t>Slide 2 of 2  ·  AI-Powered Bilingual Educational Platform  ·  Technical Brief  ·  MSME IdeaHackathon 6.0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